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61" r:id="rId5"/>
    <p:sldId id="259" r:id="rId6"/>
    <p:sldId id="267" r:id="rId7"/>
    <p:sldId id="268" r:id="rId8"/>
    <p:sldId id="260" r:id="rId9"/>
    <p:sldId id="266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0566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810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236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78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255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061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96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310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57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000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4619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896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980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2960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5251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5850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832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20049-3F0F-4549-BCAF-A3506C428588}" type="datetimeFigureOut">
              <a:rPr lang="hu-HU" smtClean="0"/>
              <a:t>2025. 10. 20.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CF068-8A18-41D1-8D7D-9670C319C17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8109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Kosztolányi elbeszélői világa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4062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Kulcsszavak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1459345"/>
            <a:ext cx="10515600" cy="4717618"/>
          </a:xfrm>
        </p:spPr>
        <p:txBody>
          <a:bodyPr>
            <a:normAutofit/>
          </a:bodyPr>
          <a:lstStyle/>
          <a:p>
            <a:r>
              <a:rPr lang="hu-HU" dirty="0" smtClean="0"/>
              <a:t>Betegség</a:t>
            </a:r>
          </a:p>
          <a:p>
            <a:r>
              <a:rPr lang="hu-HU" dirty="0" smtClean="0"/>
              <a:t>Halálfélelem</a:t>
            </a:r>
          </a:p>
          <a:p>
            <a:r>
              <a:rPr lang="hu-HU" dirty="0" smtClean="0"/>
              <a:t>Megaláztatás</a:t>
            </a:r>
          </a:p>
          <a:p>
            <a:r>
              <a:rPr lang="hu-HU" dirty="0" smtClean="0"/>
              <a:t>Kozmikus élet</a:t>
            </a:r>
          </a:p>
          <a:p>
            <a:r>
              <a:rPr lang="hu-HU" dirty="0" smtClean="0"/>
              <a:t>Szépségélmény, művészetélmény</a:t>
            </a:r>
          </a:p>
          <a:p>
            <a:r>
              <a:rPr lang="hu-HU" dirty="0" smtClean="0"/>
              <a:t>Polgári értékrend</a:t>
            </a:r>
          </a:p>
          <a:p>
            <a:r>
              <a:rPr lang="hu-HU" dirty="0" smtClean="0"/>
              <a:t>Nyelvi bravúrok</a:t>
            </a:r>
          </a:p>
          <a:p>
            <a:r>
              <a:rPr lang="hu-HU" dirty="0" smtClean="0"/>
              <a:t>Sárszeg (Pacsirta, Aranysárkány)</a:t>
            </a:r>
          </a:p>
          <a:p>
            <a:r>
              <a:rPr lang="hu-HU" dirty="0" smtClean="0"/>
              <a:t>Bús pesti nép</a:t>
            </a:r>
          </a:p>
          <a:p>
            <a:r>
              <a:rPr lang="hu-HU" dirty="0" smtClean="0"/>
              <a:t>Alteregók</a:t>
            </a:r>
          </a:p>
          <a:p>
            <a:r>
              <a:rPr lang="hu-HU" dirty="0" smtClean="0"/>
              <a:t>Mindentudó elbeszélő</a:t>
            </a:r>
          </a:p>
        </p:txBody>
      </p:sp>
    </p:spTree>
    <p:extLst>
      <p:ext uri="{BB962C8B-B14F-4D97-AF65-F5344CB8AC3E}">
        <p14:creationId xmlns:p14="http://schemas.microsoft.com/office/powerpoint/2010/main" val="311319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Novelláskötetek &gt;&gt;&gt; Esti Kornél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800" dirty="0" smtClean="0"/>
              <a:t>1908. Boszorkányos esték</a:t>
            </a:r>
            <a:endParaRPr lang="hu-HU" sz="2800" dirty="0"/>
          </a:p>
          <a:p>
            <a:r>
              <a:rPr lang="hu-HU" sz="2800" dirty="0" smtClean="0"/>
              <a:t>1933. Esti Kornél (18 mű)</a:t>
            </a:r>
          </a:p>
          <a:p>
            <a:r>
              <a:rPr lang="hu-HU" sz="2800" dirty="0" smtClean="0"/>
              <a:t>1936. Tengerszem  - </a:t>
            </a:r>
            <a:r>
              <a:rPr lang="hu-HU" sz="2800" dirty="0" err="1" smtClean="0"/>
              <a:t>alciklus</a:t>
            </a:r>
            <a:r>
              <a:rPr lang="hu-HU" sz="2800" dirty="0" smtClean="0"/>
              <a:t>; Esti </a:t>
            </a:r>
            <a:r>
              <a:rPr lang="hu-HU" sz="2800" dirty="0"/>
              <a:t>K</a:t>
            </a:r>
            <a:r>
              <a:rPr lang="hu-HU" sz="2800" dirty="0" smtClean="0"/>
              <a:t>ornél kalandjai (17 alkotás)</a:t>
            </a:r>
          </a:p>
          <a:p>
            <a:pPr marL="0" indent="0">
              <a:buNone/>
            </a:pPr>
            <a:r>
              <a:rPr lang="hu-HU" sz="2800" dirty="0" smtClean="0"/>
              <a:t>+ Azok az </a:t>
            </a:r>
            <a:r>
              <a:rPr lang="hu-HU" sz="2800" dirty="0"/>
              <a:t>Esti Kornél-novellák, amelyek különböző folyóiratokban jelentek meg, de egyik novellafüzér részét sem képezik</a:t>
            </a:r>
            <a:r>
              <a:rPr lang="hu-HU" sz="28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3741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Szövegek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95927" y="1311564"/>
            <a:ext cx="10608685" cy="4886036"/>
          </a:xfrm>
        </p:spPr>
        <p:txBody>
          <a:bodyPr>
            <a:normAutofit/>
          </a:bodyPr>
          <a:lstStyle/>
          <a:p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/>
              <a:t>kulcs – </a:t>
            </a:r>
            <a:r>
              <a:rPr lang="hu-HU" dirty="0" smtClean="0"/>
              <a:t>beavatástörténet</a:t>
            </a:r>
          </a:p>
          <a:p>
            <a:r>
              <a:rPr lang="hu-HU" dirty="0" smtClean="0"/>
              <a:t>Paulina – az élet és a lázadás filozófiai és poétikai megközelítésben</a:t>
            </a:r>
          </a:p>
          <a:p>
            <a:r>
              <a:rPr lang="hu-HU" dirty="0" smtClean="0"/>
              <a:t>A Fürdés</a:t>
            </a:r>
          </a:p>
          <a:p>
            <a:r>
              <a:rPr lang="hu-HU" dirty="0" smtClean="0"/>
              <a:t>Esti Kornél-novellák</a:t>
            </a: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 algn="just">
              <a:buNone/>
            </a:pPr>
            <a:r>
              <a:rPr lang="hu-HU" dirty="0" smtClean="0"/>
              <a:t>Kosztolányi </a:t>
            </a:r>
            <a:r>
              <a:rPr lang="hu-HU" dirty="0" err="1"/>
              <a:t>Schöpflin</a:t>
            </a:r>
            <a:r>
              <a:rPr lang="hu-HU" dirty="0"/>
              <a:t> szerint „az életet sohasem nézte rejtvénynek, amely bizonyos szabályok felhasználásával megfejthető, hanem mindig rejtélynek, amelyből, akármennyit megfejthetünk is belőle, egy rész örökké megfejthetetlen marad.”</a:t>
            </a:r>
          </a:p>
        </p:txBody>
      </p:sp>
    </p:spTree>
    <p:extLst>
      <p:ext uri="{BB962C8B-B14F-4D97-AF65-F5344CB8AC3E}">
        <p14:creationId xmlns:p14="http://schemas.microsoft.com/office/powerpoint/2010/main" val="369099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Esti alakja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smtClean="0"/>
              <a:t>Távolságtartás a prófétai (Ady, Babits) </a:t>
            </a:r>
            <a:r>
              <a:rPr lang="hu-HU" i="1" dirty="0" smtClean="0"/>
              <a:t>homo </a:t>
            </a:r>
            <a:r>
              <a:rPr lang="hu-HU" i="1" dirty="0" err="1" smtClean="0"/>
              <a:t>moralis</a:t>
            </a:r>
            <a:r>
              <a:rPr lang="hu-HU" i="1" dirty="0" smtClean="0"/>
              <a:t> </a:t>
            </a:r>
            <a:r>
              <a:rPr lang="hu-HU" dirty="0" smtClean="0"/>
              <a:t>írói magatartásától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Esti Kornél  &lt;&lt;&lt; egy játékból nő ki (a jól nevelt fiú elfojtott ösztönei, vágyai bene öltenek testet)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dirty="0" smtClean="0"/>
              <a:t>A polgári morál elleni lázadás; </a:t>
            </a:r>
            <a:r>
              <a:rPr lang="hu-HU" dirty="0" err="1" smtClean="0"/>
              <a:t>skizoid</a:t>
            </a:r>
            <a:r>
              <a:rPr lang="hu-HU" dirty="0" smtClean="0"/>
              <a:t> vonások</a:t>
            </a:r>
          </a:p>
          <a:p>
            <a:r>
              <a:rPr lang="hu-HU" dirty="0" smtClean="0"/>
              <a:t>A személyiség teljes é vágyott függetlensége</a:t>
            </a:r>
          </a:p>
          <a:p>
            <a:r>
              <a:rPr lang="hu-HU" dirty="0" smtClean="0"/>
              <a:t>A viszonylagosság és egyetemes érték (hiszen a világhoz különböző nyelvvel és lélekkel közelítünk)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123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Rejtelmes egyéniség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23273" y="2419927"/>
            <a:ext cx="11425382" cy="4248728"/>
          </a:xfrm>
        </p:spPr>
        <p:txBody>
          <a:bodyPr>
            <a:normAutofit/>
          </a:bodyPr>
          <a:lstStyle/>
          <a:p>
            <a:r>
              <a:rPr lang="hu-HU" dirty="0" smtClean="0"/>
              <a:t>A maga rejtelmes egyéniségét egymásnak feszülő </a:t>
            </a:r>
            <a:r>
              <a:rPr lang="hu-HU" dirty="0" err="1" smtClean="0"/>
              <a:t>ellentéteiben</a:t>
            </a:r>
            <a:r>
              <a:rPr lang="hu-HU" dirty="0" smtClean="0"/>
              <a:t> tárja elénk.</a:t>
            </a:r>
            <a:endParaRPr lang="hu-HU" dirty="0"/>
          </a:p>
          <a:p>
            <a:r>
              <a:rPr lang="hu-HU" dirty="0" smtClean="0"/>
              <a:t>Közönyös az emberiség nagy ügyei iránt – de </a:t>
            </a:r>
            <a:r>
              <a:rPr lang="hu-HU" dirty="0" err="1" smtClean="0"/>
              <a:t>átérzi</a:t>
            </a:r>
            <a:r>
              <a:rPr lang="hu-HU" dirty="0" smtClean="0"/>
              <a:t> az ember sorsát.</a:t>
            </a:r>
          </a:p>
          <a:p>
            <a:r>
              <a:rPr lang="hu-HU" dirty="0" smtClean="0"/>
              <a:t>Életvágy és halálfélelem – kiábrándultság és erős érdeklődés</a:t>
            </a:r>
          </a:p>
          <a:p>
            <a:r>
              <a:rPr lang="hu-HU" dirty="0" smtClean="0"/>
              <a:t>Játékos könnyelműség és fegyelem</a:t>
            </a:r>
          </a:p>
          <a:p>
            <a:r>
              <a:rPr lang="hu-HU" dirty="0" smtClean="0"/>
              <a:t>Gőg és alázkodó szelídség</a:t>
            </a:r>
          </a:p>
          <a:p>
            <a:r>
              <a:rPr lang="hu-HU" dirty="0" smtClean="0"/>
              <a:t>A szándék, hogy a költő a hősétől elkülönítse magát – szenved tőle</a:t>
            </a:r>
          </a:p>
        </p:txBody>
      </p:sp>
    </p:spTree>
    <p:extLst>
      <p:ext uri="{BB962C8B-B14F-4D97-AF65-F5344CB8AC3E}">
        <p14:creationId xmlns:p14="http://schemas.microsoft.com/office/powerpoint/2010/main" val="361403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Motivikus ábrázolás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Estit magától elszakíthatatlannak érzi.</a:t>
            </a:r>
          </a:p>
          <a:p>
            <a:r>
              <a:rPr lang="hu-HU" dirty="0" smtClean="0"/>
              <a:t>Álerkölcs elleni lázadás:</a:t>
            </a:r>
          </a:p>
          <a:p>
            <a:pPr marL="0" indent="0">
              <a:buNone/>
            </a:pPr>
            <a:r>
              <a:rPr lang="hu-HU" dirty="0"/>
              <a:t>	</a:t>
            </a:r>
            <a:r>
              <a:rPr lang="hu-HU" dirty="0" smtClean="0"/>
              <a:t> „ő tanácsolta, hogy azok pártján legyek, akiket a többség </a:t>
            </a:r>
            <a:r>
              <a:rPr lang="hu-HU" dirty="0" err="1" smtClean="0"/>
              <a:t>leköp</a:t>
            </a:r>
            <a:r>
              <a:rPr lang="hu-HU" dirty="0" smtClean="0"/>
              <a:t>,</a:t>
            </a:r>
          </a:p>
          <a:p>
            <a:pPr marL="0" indent="0">
              <a:buNone/>
            </a:pPr>
            <a:r>
              <a:rPr lang="hu-HU" dirty="0"/>
              <a:t>	 </a:t>
            </a:r>
            <a:r>
              <a:rPr lang="hu-HU" dirty="0" smtClean="0"/>
              <a:t> bebörtönöz és felakaszt”.</a:t>
            </a:r>
          </a:p>
          <a:p>
            <a:pPr marL="0" indent="0">
              <a:buNone/>
            </a:pPr>
            <a:endParaRPr lang="hu-HU" dirty="0" smtClean="0"/>
          </a:p>
          <a:p>
            <a:r>
              <a:rPr lang="hu-HU" dirty="0" smtClean="0"/>
              <a:t>Esti lett a tiltott gondolatok, a szégyellnivaló érzések kimondásának az alakja.</a:t>
            </a:r>
          </a:p>
          <a:p>
            <a:pPr algn="just"/>
            <a:r>
              <a:rPr lang="hu-HU" dirty="0" smtClean="0"/>
              <a:t>Ő lett a rejtelmes ösztönvilág, a költő anarchikus énjének megtestesült mása.</a:t>
            </a:r>
          </a:p>
        </p:txBody>
      </p:sp>
    </p:spTree>
    <p:extLst>
      <p:ext uri="{BB962C8B-B14F-4D97-AF65-F5344CB8AC3E}">
        <p14:creationId xmlns:p14="http://schemas.microsoft.com/office/powerpoint/2010/main" val="2880283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fürdés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hu-HU" dirty="0" smtClean="0"/>
              <a:t>A mitikus utalások végig kísérték Kosztolányi életművét, és nyilvánvaló módon kitüntetett jelentőséggel bírnak mind a </a:t>
            </a:r>
            <a:r>
              <a:rPr lang="hu-HU" i="1" dirty="0" smtClean="0"/>
              <a:t>Nero, a véres költő</a:t>
            </a:r>
            <a:r>
              <a:rPr lang="hu-HU" dirty="0" smtClean="0"/>
              <a:t>ben, mind a </a:t>
            </a:r>
            <a:r>
              <a:rPr lang="hu-HU" i="1" dirty="0" smtClean="0"/>
              <a:t>Tengerszemnek</a:t>
            </a:r>
            <a:r>
              <a:rPr lang="hu-HU" dirty="0" smtClean="0"/>
              <a:t> a pálya zárlatához tartozó Latin arcélek ciklusa négy fontos novellájában.</a:t>
            </a:r>
          </a:p>
          <a:p>
            <a:pPr marL="0" indent="0" algn="just">
              <a:buNone/>
            </a:pPr>
            <a:endParaRPr lang="hu-HU" dirty="0" smtClean="0"/>
          </a:p>
          <a:p>
            <a:pPr algn="just"/>
            <a:r>
              <a:rPr lang="hu-HU" dirty="0" smtClean="0"/>
              <a:t>1925-ös </a:t>
            </a:r>
            <a:r>
              <a:rPr lang="hu-HU" i="1" dirty="0"/>
              <a:t>Fürdés</a:t>
            </a:r>
            <a:r>
              <a:rPr lang="hu-HU" dirty="0"/>
              <a:t>: jóllehet a cím a rituális tisztálkodás cselekményét, tágabban a megtisztulás szertartásait és a bűnösség, a felelősség problémáját is fölidézheti, a novellából első olvasásra inkább csak profán családi rituálékra, a szereplők viszonyát érzékeltető (nyelvi) játszmákra hozhatók példák.</a:t>
            </a:r>
          </a:p>
        </p:txBody>
      </p:sp>
    </p:spTree>
    <p:extLst>
      <p:ext uri="{BB962C8B-B14F-4D97-AF65-F5344CB8AC3E}">
        <p14:creationId xmlns:p14="http://schemas.microsoft.com/office/powerpoint/2010/main" val="232293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Prózanyelv – kevés szóval értelmezett történet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1477818"/>
            <a:ext cx="10515600" cy="4699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i="1" dirty="0" smtClean="0"/>
              <a:t>Fürdés</a:t>
            </a:r>
          </a:p>
          <a:p>
            <a:pPr marL="0" indent="0">
              <a:buNone/>
            </a:pPr>
            <a:r>
              <a:rPr lang="hu-HU" b="1" dirty="0" smtClean="0"/>
              <a:t>Csónak</a:t>
            </a:r>
            <a:r>
              <a:rPr lang="hu-HU" dirty="0" smtClean="0"/>
              <a:t> motívum: külön </a:t>
            </a:r>
            <a:r>
              <a:rPr lang="hu-HU" dirty="0"/>
              <a:t>is fölhívja az olvasók figyelmét a csónak feleslegességére. </a:t>
            </a:r>
            <a:endParaRPr lang="hu-HU" dirty="0" smtClean="0"/>
          </a:p>
          <a:p>
            <a:pPr marL="0" indent="0">
              <a:buNone/>
            </a:pPr>
            <a:r>
              <a:rPr lang="hu-HU" b="1" dirty="0" smtClean="0"/>
              <a:t>Gyanút</a:t>
            </a:r>
            <a:r>
              <a:rPr lang="hu-HU" dirty="0" smtClean="0"/>
              <a:t> ébreszt: ami a történet </a:t>
            </a:r>
            <a:r>
              <a:rPr lang="hu-HU" dirty="0"/>
              <a:t>síkján fölösleges, az </a:t>
            </a:r>
            <a:r>
              <a:rPr lang="hu-HU" dirty="0" err="1"/>
              <a:t>poétikailag</a:t>
            </a:r>
            <a:r>
              <a:rPr lang="hu-HU" dirty="0"/>
              <a:t> nagyon is jelentőségteljes: a csónakban különösebb képzelőerő nélkül sem lehetetlen Charon holtak </a:t>
            </a:r>
            <a:r>
              <a:rPr lang="hu-HU" dirty="0" err="1"/>
              <a:t>lelkeit</a:t>
            </a:r>
            <a:r>
              <a:rPr lang="hu-HU" dirty="0"/>
              <a:t> szállító ladikját látni. </a:t>
            </a:r>
            <a:endParaRPr lang="hu-HU" dirty="0" smtClean="0"/>
          </a:p>
          <a:p>
            <a:pPr marL="0" indent="0">
              <a:buNone/>
            </a:pPr>
            <a:r>
              <a:rPr lang="hu-HU" b="1" dirty="0" smtClean="0"/>
              <a:t>Elmerülés</a:t>
            </a:r>
            <a:r>
              <a:rPr lang="hu-HU" dirty="0" smtClean="0"/>
              <a:t>: Pszükhé </a:t>
            </a:r>
            <a:r>
              <a:rPr lang="hu-HU" dirty="0"/>
              <a:t>mítoszát </a:t>
            </a:r>
            <a:r>
              <a:rPr lang="hu-HU" dirty="0" smtClean="0"/>
              <a:t>idézheti - </a:t>
            </a:r>
            <a:r>
              <a:rPr lang="hu-HU" dirty="0"/>
              <a:t>„A tó tündöklött, mintha millió és millió pillangó verdesné tükrét, gyémántszárnnyal.” (Kosztolányi, 1936) </a:t>
            </a:r>
            <a:endParaRPr lang="hu-HU" dirty="0" smtClean="0"/>
          </a:p>
          <a:p>
            <a:pPr marL="0" indent="0">
              <a:buNone/>
            </a:pPr>
            <a:r>
              <a:rPr lang="hu-HU" b="1" dirty="0" smtClean="0"/>
              <a:t>Káprázat</a:t>
            </a:r>
            <a:r>
              <a:rPr lang="hu-HU" dirty="0" smtClean="0"/>
              <a:t>: a </a:t>
            </a:r>
            <a:r>
              <a:rPr lang="hu-HU" dirty="0"/>
              <a:t>szemet kápráztató látvány éppúgy utalhat a látás akadályozottságára, amiképp a halott testből távozó lélek jelképe is </a:t>
            </a:r>
            <a:r>
              <a:rPr lang="hu-HU" dirty="0" smtClean="0"/>
              <a:t>lehet.</a:t>
            </a:r>
          </a:p>
          <a:p>
            <a:pPr marL="0" indent="0">
              <a:buNone/>
            </a:pPr>
            <a:r>
              <a:rPr lang="hu-HU" b="1" dirty="0" smtClean="0"/>
              <a:t>Idő</a:t>
            </a:r>
            <a:r>
              <a:rPr lang="hu-HU" dirty="0" smtClean="0"/>
              <a:t>: a </a:t>
            </a:r>
            <a:r>
              <a:rPr lang="hu-HU" dirty="0"/>
              <a:t>külső, mérhető, számszerűen jelzett és a megélt, személyes idő szinte Bergsonra emlékeztető módon állnak szemben </a:t>
            </a:r>
            <a:r>
              <a:rPr lang="hu-HU" dirty="0" smtClean="0"/>
              <a:t>egymással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5206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Motívumok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Az utazás </a:t>
            </a: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legrégibb életutat jelképező archetipikus toposz. </a:t>
            </a:r>
            <a:endParaRPr lang="hu-HU" dirty="0" smtClean="0"/>
          </a:p>
          <a:p>
            <a:pPr>
              <a:buFontTx/>
              <a:buChar char="-"/>
            </a:pPr>
            <a:r>
              <a:rPr lang="hu-HU" dirty="0" smtClean="0"/>
              <a:t>az </a:t>
            </a:r>
            <a:r>
              <a:rPr lang="hu-HU" dirty="0"/>
              <a:t>élet biztonságának a lehetetlenségét is </a:t>
            </a:r>
            <a:r>
              <a:rPr lang="hu-HU" dirty="0" smtClean="0"/>
              <a:t>szimbolizálja</a:t>
            </a:r>
          </a:p>
          <a:p>
            <a:pPr>
              <a:buFontTx/>
              <a:buChar char="-"/>
            </a:pPr>
            <a:r>
              <a:rPr lang="hu-HU" dirty="0" smtClean="0"/>
              <a:t>felkészítheti </a:t>
            </a:r>
            <a:r>
              <a:rPr lang="hu-HU" dirty="0"/>
              <a:t>az embert az </a:t>
            </a:r>
            <a:r>
              <a:rPr lang="hu-HU" dirty="0" smtClean="0"/>
              <a:t>elmúlásra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novellában Esti úgy viselkedik a villamosban a „harc” közben, mint egy zsák. 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127073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Zord valóság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Kosztolányi kései novelláiban már nem találkozunk a „minden megtörténhet” sejtelmes, különös álomvilágával, a zord, kíméletlen valóság jelenik meg az alkotásokban. </a:t>
            </a:r>
            <a:endParaRPr lang="hu-HU" dirty="0" smtClean="0"/>
          </a:p>
          <a:p>
            <a:r>
              <a:rPr lang="hu-HU" dirty="0" smtClean="0"/>
              <a:t>Dísztelen </a:t>
            </a:r>
            <a:r>
              <a:rPr lang="hu-HU" dirty="0"/>
              <a:t>ítélet </a:t>
            </a:r>
            <a:endParaRPr lang="hu-HU" dirty="0" smtClean="0"/>
          </a:p>
          <a:p>
            <a:r>
              <a:rPr lang="hu-HU" dirty="0" smtClean="0"/>
              <a:t>Utolsó </a:t>
            </a:r>
            <a:r>
              <a:rPr lang="hu-HU" dirty="0"/>
              <a:t>elbeszéléskötete (</a:t>
            </a:r>
            <a:r>
              <a:rPr lang="hu-HU" i="1" dirty="0"/>
              <a:t>Tengerszem</a:t>
            </a:r>
            <a:r>
              <a:rPr lang="hu-HU" dirty="0"/>
              <a:t>, 1936) ciklusokra oszlik. </a:t>
            </a:r>
            <a:endParaRPr lang="hu-HU" dirty="0" smtClean="0"/>
          </a:p>
          <a:p>
            <a:r>
              <a:rPr lang="hu-HU" dirty="0" smtClean="0"/>
              <a:t>A </a:t>
            </a:r>
            <a:r>
              <a:rPr lang="hu-HU" i="1" dirty="0"/>
              <a:t>Végzet és veszély </a:t>
            </a:r>
            <a:r>
              <a:rPr lang="hu-HU" dirty="0"/>
              <a:t>ciklus a kötet elején </a:t>
            </a:r>
            <a:r>
              <a:rPr lang="hu-HU" dirty="0" smtClean="0"/>
              <a:t>foglal </a:t>
            </a:r>
            <a:r>
              <a:rPr lang="hu-HU" dirty="0"/>
              <a:t>helyet. Ebben a ciklusban többek között a tudati folyamatokkal, az elfojtott erő-szakkal kapcsolatos novellái kaptak </a:t>
            </a:r>
            <a:r>
              <a:rPr lang="hu-HU" dirty="0" smtClean="0"/>
              <a:t>helyet.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708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nyelv kérdései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hu-HU" i="1" dirty="0" err="1" smtClean="0"/>
              <a:t>Omelette</a:t>
            </a:r>
            <a:r>
              <a:rPr lang="hu-HU" i="1" dirty="0" smtClean="0"/>
              <a:t> </a:t>
            </a:r>
            <a:r>
              <a:rPr lang="hu-HU" i="1" dirty="0"/>
              <a:t>à </a:t>
            </a:r>
            <a:r>
              <a:rPr lang="hu-HU" i="1" dirty="0" err="1" smtClean="0"/>
              <a:t>Woburn</a:t>
            </a:r>
            <a:r>
              <a:rPr lang="hu-HU" dirty="0" smtClean="0"/>
              <a:t>: Esti </a:t>
            </a:r>
            <a:r>
              <a:rPr lang="hu-HU" dirty="0"/>
              <a:t>megáll Zürichben, hallja a pincérek egymás közti olasz beszélgetését, ezért kedvességből olaszul szól hozzájuk, de a pincérek németül válaszolnak, amivel azonnal Esti értésére adják, hogy számukra ő egy idegen, s nem kerülhetnek bizalmas kapcsolatba. </a:t>
            </a:r>
            <a:endParaRPr lang="hu-HU" dirty="0" smtClean="0"/>
          </a:p>
          <a:p>
            <a:pPr algn="just"/>
            <a:r>
              <a:rPr lang="hu-HU" dirty="0" smtClean="0"/>
              <a:t>Az </a:t>
            </a:r>
            <a:r>
              <a:rPr lang="hu-HU" dirty="0"/>
              <a:t>idegen nyelv nehézkes </a:t>
            </a:r>
            <a:r>
              <a:rPr lang="hu-HU" dirty="0" smtClean="0"/>
              <a:t>elsajátítása: </a:t>
            </a:r>
            <a:r>
              <a:rPr lang="hu-HU" i="1" dirty="0" err="1" smtClean="0"/>
              <a:t>Cseregdi</a:t>
            </a:r>
            <a:r>
              <a:rPr lang="hu-HU" i="1" dirty="0" smtClean="0"/>
              <a:t> </a:t>
            </a:r>
            <a:r>
              <a:rPr lang="hu-HU" i="1" dirty="0"/>
              <a:t>Bandi Párizsban, 1910-ben</a:t>
            </a:r>
            <a:r>
              <a:rPr lang="hu-HU" dirty="0"/>
              <a:t> című elbeszélésben Esti Kornél egyik este magára hagyja barátját, Bandit, párizsi lakásában. A francia háziasszonnyal egy régi, elavult nyelvkönyvből akarja megértettetni magát, ami elég komikus helyzetet eredményez.</a:t>
            </a:r>
          </a:p>
        </p:txBody>
      </p:sp>
    </p:spTree>
    <p:extLst>
      <p:ext uri="{BB962C8B-B14F-4D97-AF65-F5344CB8AC3E}">
        <p14:creationId xmlns:p14="http://schemas.microsoft.com/office/powerpoint/2010/main" val="567910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Szerepmotívumok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2673" cy="4351338"/>
          </a:xfrm>
        </p:spPr>
        <p:txBody>
          <a:bodyPr/>
          <a:lstStyle/>
          <a:p>
            <a:r>
              <a:rPr lang="hu-HU" dirty="0" smtClean="0"/>
              <a:t>Végig kísérte írásművészetét</a:t>
            </a:r>
          </a:p>
          <a:p>
            <a:r>
              <a:rPr lang="hu-HU" dirty="0" smtClean="0"/>
              <a:t>Álarc-motívum: </a:t>
            </a:r>
            <a:r>
              <a:rPr lang="hu-HU" smtClean="0"/>
              <a:t>a </a:t>
            </a:r>
            <a:r>
              <a:rPr lang="hu-HU" smtClean="0"/>
              <a:t>színészkedés</a:t>
            </a:r>
            <a:r>
              <a:rPr lang="hu-HU" dirty="0"/>
              <a:t>, a </a:t>
            </a:r>
            <a:r>
              <a:rPr lang="hu-HU" dirty="0" smtClean="0"/>
              <a:t>szerepjáték - </a:t>
            </a:r>
            <a:r>
              <a:rPr lang="hu-HU" i="1" dirty="0" smtClean="0"/>
              <a:t>Caligula</a:t>
            </a:r>
            <a:r>
              <a:rPr lang="hu-HU" dirty="0" smtClean="0"/>
              <a:t> </a:t>
            </a:r>
            <a:r>
              <a:rPr lang="hu-HU" dirty="0"/>
              <a:t>című </a:t>
            </a:r>
            <a:r>
              <a:rPr lang="hu-HU" dirty="0" smtClean="0"/>
              <a:t>novellája. </a:t>
            </a:r>
          </a:p>
          <a:p>
            <a:r>
              <a:rPr lang="hu-HU" dirty="0" smtClean="0"/>
              <a:t>Caligula belekényszerül </a:t>
            </a:r>
            <a:r>
              <a:rPr lang="hu-HU" dirty="0"/>
              <a:t>egy szerepjátékba. Gyerekkorában színlelnie kell, hogy a vészterhes időket túlélje. A szereplők belekényszerítése egy bizonyos szerepbe negatív </a:t>
            </a:r>
            <a:r>
              <a:rPr lang="hu-HU" dirty="0" err="1"/>
              <a:t>konnotációt</a:t>
            </a:r>
            <a:r>
              <a:rPr lang="hu-HU" dirty="0"/>
              <a:t> kap Kosztolányinál. </a:t>
            </a:r>
            <a:endParaRPr lang="hu-HU" dirty="0" smtClean="0"/>
          </a:p>
          <a:p>
            <a:r>
              <a:rPr lang="hu-HU" dirty="0" smtClean="0"/>
              <a:t>A </a:t>
            </a:r>
            <a:r>
              <a:rPr lang="hu-HU" dirty="0"/>
              <a:t>novellában </a:t>
            </a:r>
            <a:r>
              <a:rPr lang="hu-HU" dirty="0" err="1"/>
              <a:t>körüljárt</a:t>
            </a:r>
            <a:r>
              <a:rPr lang="hu-HU" dirty="0"/>
              <a:t> probléma abból adódik, hogy Caligula gyermekként korlátok közé szorul, és felnőttként (császárként) is képtelen ebből a korlátból kitörni. </a:t>
            </a:r>
          </a:p>
        </p:txBody>
      </p:sp>
    </p:spTree>
    <p:extLst>
      <p:ext uri="{BB962C8B-B14F-4D97-AF65-F5344CB8AC3E}">
        <p14:creationId xmlns:p14="http://schemas.microsoft.com/office/powerpoint/2010/main" val="3352106131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csík">
  <a:themeElements>
    <a:clrScheme name="Kondenzcsík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csík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csík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TM04033937[[fn=Kondenzcsík]]</Template>
  <TotalTime>191</TotalTime>
  <Words>728</Words>
  <Application>Microsoft Office PowerPoint</Application>
  <PresentationFormat>Szélesvásznú</PresentationFormat>
  <Paragraphs>80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Kondenzcsík</vt:lpstr>
      <vt:lpstr>Kosztolányi elbeszélői világa</vt:lpstr>
      <vt:lpstr>Kulcsszavak</vt:lpstr>
      <vt:lpstr>Novelláskötetek &gt;&gt;&gt; Esti Kornél</vt:lpstr>
      <vt:lpstr>Szövegek</vt:lpstr>
      <vt:lpstr>Esti alakja</vt:lpstr>
      <vt:lpstr>Rejtelmes egyéniség</vt:lpstr>
      <vt:lpstr>Motivikus ábrázolás</vt:lpstr>
      <vt:lpstr>A fürdés</vt:lpstr>
      <vt:lpstr>Prózanyelv – kevés szóval értelmezett történet</vt:lpstr>
      <vt:lpstr>Motívumok</vt:lpstr>
      <vt:lpstr>Zord valóság</vt:lpstr>
      <vt:lpstr>A nyelv kérdései</vt:lpstr>
      <vt:lpstr>Szerepmotívumok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Kosztolányi elbeszélői világa</dc:title>
  <dc:creator>Fazekas</dc:creator>
  <cp:lastModifiedBy>Fazekas</cp:lastModifiedBy>
  <cp:revision>7</cp:revision>
  <dcterms:created xsi:type="dcterms:W3CDTF">2024-10-24T15:11:59Z</dcterms:created>
  <dcterms:modified xsi:type="dcterms:W3CDTF">2025-10-20T06:59:43Z</dcterms:modified>
</cp:coreProperties>
</file>